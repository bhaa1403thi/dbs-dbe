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25" autoAdjust="0"/>
    <p:restoredTop sz="95033" autoAdjust="0"/>
  </p:normalViewPr>
  <p:slideViewPr>
    <p:cSldViewPr snapToGrid="0" snapToObjects="1">
      <p:cViewPr>
        <p:scale>
          <a:sx n="75" d="100"/>
          <a:sy n="75" d="100"/>
        </p:scale>
        <p:origin x="998" y="259"/>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8/15/2026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15-08-2026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15-08-2026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15-08-2026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15-08-2026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15-08-2026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15-08-2026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15-08-2026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15-08-2026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15-08-2026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15-08-2026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15-08-2026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15-08-2026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15-08-2026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15-08-2026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15-08-2026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15-08-2026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15-08-2026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15-08-2026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US" sz="2400" b="1" dirty="0">
                <a:solidFill>
                  <a:srgbClr val="011893"/>
                </a:solidFill>
                <a:latin typeface="+mn-lt"/>
                <a:cs typeface="Arial" panose="020B0604020202020204" pitchFamily="34" charset="0"/>
              </a:rPr>
              <a:t>Distributed Video Anomaly Detection in Large-Scale Surveillance Systems Using HDFS and Cluster-Visualized Federated CNN–LSTM Models</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1112160" y="4987541"/>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lgn="ctr">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Y Subbarayudu</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lgn="ctr">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1986870845"/>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Name1 : Alluru Akshaya</a:t>
                      </a:r>
                    </a:p>
                  </a:txBody>
                  <a:tcPr/>
                </a:tc>
                <a:tc>
                  <a:txBody>
                    <a:bodyPr/>
                    <a:lstStyle/>
                    <a:p>
                      <a:r>
                        <a:rPr lang="en-US" dirty="0"/>
                        <a:t>Roll no : 2520030189</a:t>
                      </a:r>
                    </a:p>
                  </a:txBody>
                  <a:tcPr/>
                </a:tc>
                <a:extLst>
                  <a:ext uri="{0D108BD9-81ED-4DB2-BD59-A6C34878D82A}">
                    <a16:rowId xmlns:a16="http://schemas.microsoft.com/office/drawing/2014/main" val="253518174"/>
                  </a:ext>
                </a:extLst>
              </a:tr>
              <a:tr h="370840">
                <a:tc>
                  <a:txBody>
                    <a:bodyPr/>
                    <a:lstStyle/>
                    <a:p>
                      <a:r>
                        <a:rPr lang="en-US" dirty="0"/>
                        <a:t>Name2 : Yasam Bhaarathi</a:t>
                      </a:r>
                    </a:p>
                  </a:txBody>
                  <a:tcPr/>
                </a:tc>
                <a:tc>
                  <a:txBody>
                    <a:bodyPr/>
                    <a:lstStyle/>
                    <a:p>
                      <a:r>
                        <a:rPr lang="en-US" dirty="0"/>
                        <a:t>Roll no :  2520030211</a:t>
                      </a:r>
                    </a:p>
                  </a:txBody>
                  <a:tcPr/>
                </a:tc>
                <a:extLst>
                  <a:ext uri="{0D108BD9-81ED-4DB2-BD59-A6C34878D82A}">
                    <a16:rowId xmlns:a16="http://schemas.microsoft.com/office/drawing/2014/main" val="2413438055"/>
                  </a:ext>
                </a:extLst>
              </a:tr>
              <a:tr h="370840">
                <a:tc>
                  <a:txBody>
                    <a:bodyPr/>
                    <a:lstStyle/>
                    <a:p>
                      <a:r>
                        <a:rPr lang="en-US" dirty="0"/>
                        <a:t>Name3 : </a:t>
                      </a:r>
                      <a:r>
                        <a:rPr lang="en-US" sz="1800" kern="1200" dirty="0">
                          <a:solidFill>
                            <a:schemeClr val="tx1"/>
                          </a:solidFill>
                          <a:effectLst/>
                          <a:latin typeface="+mn-lt"/>
                          <a:ea typeface="+mn-ea"/>
                          <a:cs typeface="+mn-cs"/>
                        </a:rPr>
                        <a:t>Madhan Gopal Narla</a:t>
                      </a:r>
                      <a:endParaRPr lang="en-US" dirty="0"/>
                    </a:p>
                  </a:txBody>
                  <a:tcPr/>
                </a:tc>
                <a:tc>
                  <a:txBody>
                    <a:bodyPr/>
                    <a:lstStyle/>
                    <a:p>
                      <a:r>
                        <a:rPr lang="en-US" dirty="0"/>
                        <a:t>Roll no : </a:t>
                      </a:r>
                      <a:r>
                        <a:rPr lang="en-US" sz="1800" kern="1200" dirty="0">
                          <a:solidFill>
                            <a:schemeClr val="tx1"/>
                          </a:solidFill>
                          <a:effectLst/>
                          <a:latin typeface="+mn-lt"/>
                          <a:ea typeface="+mn-ea"/>
                          <a:cs typeface="+mn-cs"/>
                        </a:rPr>
                        <a:t>2520030263</a:t>
                      </a:r>
                      <a:endParaRPr lang="en-US" dirty="0"/>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 </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2197542386"/>
              </p:ext>
            </p:extLst>
          </p:nvPr>
        </p:nvGraphicFramePr>
        <p:xfrm>
          <a:off x="838199" y="1416193"/>
          <a:ext cx="10515600" cy="3625780"/>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87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rmAutofit/>
          </a:bodyPr>
          <a:lstStyle/>
          <a:p>
            <a:pPr lvl="1">
              <a:lnSpc>
                <a:spcPct val="160000"/>
              </a:lnSpc>
            </a:pPr>
            <a:r>
              <a:rPr lang="en-IN" sz="1800" dirty="0">
                <a:latin typeface="Yu Gothic Medium" panose="020B0500000000000000" pitchFamily="34" charset="-128"/>
                <a:ea typeface="Yu Gothic Medium" panose="020B0500000000000000" pitchFamily="34" charset="-128"/>
              </a:rPr>
              <a:t>The </a:t>
            </a:r>
            <a:r>
              <a:rPr lang="en-IN" sz="1800" b="1" dirty="0">
                <a:latin typeface="Yu Gothic Medium" panose="020B0500000000000000" pitchFamily="34" charset="-128"/>
                <a:ea typeface="Yu Gothic Medium" panose="020B0500000000000000" pitchFamily="34" charset="-128"/>
              </a:rPr>
              <a:t>Freelance Marketplace with Escrow Payments</a:t>
            </a:r>
            <a:r>
              <a:rPr lang="en-IN" sz="1800" dirty="0">
                <a:latin typeface="Yu Gothic Medium" panose="020B0500000000000000" pitchFamily="34" charset="-128"/>
                <a:ea typeface="Yu Gothic Medium" panose="020B0500000000000000" pitchFamily="34" charset="-128"/>
              </a:rPr>
              <a:t> is a platform that connects clients and freelancers for secure project management and payments. Clients can post projects with requirements, budgets, and deadlines, while freelancers can browse projects and submit proposals. The system manages users, projects, proposals, contracts, payments, and reviews.</a:t>
            </a:r>
          </a:p>
          <a:p>
            <a:pPr lvl="1">
              <a:lnSpc>
                <a:spcPct val="160000"/>
              </a:lnSpc>
            </a:pPr>
            <a:r>
              <a:rPr lang="en-IN" sz="1800" dirty="0">
                <a:latin typeface="Yu Gothic Medium" panose="020B0500000000000000" pitchFamily="34" charset="-128"/>
                <a:ea typeface="Yu Gothic Medium" panose="020B0500000000000000" pitchFamily="34" charset="-128"/>
              </a:rPr>
              <a:t>The key feature is the </a:t>
            </a:r>
            <a:r>
              <a:rPr lang="en-IN" sz="1800" b="1" dirty="0">
                <a:latin typeface="Yu Gothic Medium" panose="020B0500000000000000" pitchFamily="34" charset="-128"/>
                <a:ea typeface="Yu Gothic Medium" panose="020B0500000000000000" pitchFamily="34" charset="-128"/>
              </a:rPr>
              <a:t>Escrow payment mechanism</a:t>
            </a:r>
            <a:r>
              <a:rPr lang="en-IN" sz="1800" dirty="0">
                <a:latin typeface="Yu Gothic Medium" panose="020B0500000000000000" pitchFamily="34" charset="-128"/>
                <a:ea typeface="Yu Gothic Medium" panose="020B0500000000000000" pitchFamily="34" charset="-128"/>
              </a:rPr>
              <a:t>, where the agreed payment is securely held and released to the freelancer only after the project is completed and approved by the client. The system also maintains records of completed, cancelled, and disputed payments, ensuring secure and transparent transactions.</a:t>
            </a:r>
          </a:p>
          <a:p>
            <a:endParaRPr lang="en-US" sz="20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a:xfrm>
            <a:off x="723900" y="136525"/>
            <a:ext cx="10515600" cy="1325563"/>
          </a:xfrm>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a:xfrm>
            <a:off x="648160" y="1253331"/>
            <a:ext cx="11121738" cy="4351338"/>
          </a:xfrm>
        </p:spPr>
        <p:txBody>
          <a:bodyPr>
            <a:noAutofit/>
          </a:bodyPr>
          <a:lstStyle/>
          <a:p>
            <a:pPr lvl="0"/>
            <a:r>
              <a:rPr lang="en-IN" sz="1800" dirty="0">
                <a:latin typeface="Yu Gothic Medium" panose="020B0500000000000000" pitchFamily="34" charset="-128"/>
                <a:ea typeface="Yu Gothic Medium" panose="020B0500000000000000" pitchFamily="34" charset="-128"/>
              </a:rPr>
              <a:t>Provides a </a:t>
            </a:r>
            <a:r>
              <a:rPr lang="en-IN" sz="1800" b="1" dirty="0">
                <a:latin typeface="Yu Gothic Medium" panose="020B0500000000000000" pitchFamily="34" charset="-128"/>
                <a:ea typeface="Yu Gothic Medium" panose="020B0500000000000000" pitchFamily="34" charset="-128"/>
              </a:rPr>
              <a:t>secure and structured platform</a:t>
            </a:r>
            <a:r>
              <a:rPr lang="en-IN" sz="1800" dirty="0">
                <a:latin typeface="Yu Gothic Medium" panose="020B0500000000000000" pitchFamily="34" charset="-128"/>
                <a:ea typeface="Yu Gothic Medium" panose="020B0500000000000000" pitchFamily="34" charset="-128"/>
              </a:rPr>
              <a:t> for clients and freelancers. </a:t>
            </a:r>
          </a:p>
          <a:p>
            <a:pPr lvl="0"/>
            <a:r>
              <a:rPr lang="en-IN" sz="1800" dirty="0">
                <a:latin typeface="Yu Gothic Medium" panose="020B0500000000000000" pitchFamily="34" charset="-128"/>
                <a:ea typeface="Yu Gothic Medium" panose="020B0500000000000000" pitchFamily="34" charset="-128"/>
              </a:rPr>
              <a:t>Clients can post jobs with </a:t>
            </a:r>
            <a:r>
              <a:rPr lang="en-IN" sz="1800" b="1" dirty="0">
                <a:latin typeface="Yu Gothic Medium" panose="020B0500000000000000" pitchFamily="34" charset="-128"/>
                <a:ea typeface="Yu Gothic Medium" panose="020B0500000000000000" pitchFamily="34" charset="-128"/>
              </a:rPr>
              <a:t>requirements, budgets, and deadlines</a:t>
            </a:r>
            <a:r>
              <a:rPr lang="en-IN" sz="1800" dirty="0">
                <a:latin typeface="Yu Gothic Medium" panose="020B0500000000000000" pitchFamily="34" charset="-128"/>
                <a:ea typeface="Yu Gothic Medium" panose="020B0500000000000000" pitchFamily="34" charset="-128"/>
              </a:rPr>
              <a:t>. </a:t>
            </a:r>
          </a:p>
          <a:p>
            <a:pPr lvl="0"/>
            <a:r>
              <a:rPr lang="en-IN" sz="1800" dirty="0">
                <a:latin typeface="Yu Gothic Medium" panose="020B0500000000000000" pitchFamily="34" charset="-128"/>
                <a:ea typeface="Yu Gothic Medium" panose="020B0500000000000000" pitchFamily="34" charset="-128"/>
              </a:rPr>
              <a:t>Freelancers can explore available projects and </a:t>
            </a:r>
            <a:r>
              <a:rPr lang="en-IN" sz="1800" b="1" dirty="0">
                <a:latin typeface="Yu Gothic Medium" panose="020B0500000000000000" pitchFamily="34" charset="-128"/>
                <a:ea typeface="Yu Gothic Medium" panose="020B0500000000000000" pitchFamily="34" charset="-128"/>
              </a:rPr>
              <a:t>submit proposals</a:t>
            </a:r>
            <a:r>
              <a:rPr lang="en-IN" sz="1800" dirty="0">
                <a:latin typeface="Yu Gothic Medium" panose="020B0500000000000000" pitchFamily="34" charset="-128"/>
                <a:ea typeface="Yu Gothic Medium" panose="020B0500000000000000" pitchFamily="34" charset="-128"/>
              </a:rPr>
              <a:t> based on their skills. </a:t>
            </a:r>
          </a:p>
          <a:p>
            <a:pPr lvl="0"/>
            <a:r>
              <a:rPr lang="en-IN" sz="1800" dirty="0">
                <a:latin typeface="Yu Gothic Medium" panose="020B0500000000000000" pitchFamily="34" charset="-128"/>
                <a:ea typeface="Yu Gothic Medium" panose="020B0500000000000000" pitchFamily="34" charset="-128"/>
              </a:rPr>
              <a:t>Manages the complete project lifecycle: </a:t>
            </a:r>
          </a:p>
          <a:p>
            <a:pPr marL="1257300" lvl="2" indent="-342900">
              <a:buFont typeface="+mj-lt"/>
              <a:buAutoNum type="arabicPeriod"/>
            </a:pPr>
            <a:r>
              <a:rPr lang="en-IN" sz="1600" dirty="0">
                <a:latin typeface="Yu Gothic Medium" panose="020B0500000000000000" pitchFamily="34" charset="-128"/>
                <a:ea typeface="Yu Gothic Medium" panose="020B0500000000000000" pitchFamily="34" charset="-128"/>
              </a:rPr>
              <a:t>Job posting </a:t>
            </a:r>
          </a:p>
          <a:p>
            <a:pPr marL="1257300" lvl="2" indent="-342900">
              <a:buFont typeface="+mj-lt"/>
              <a:buAutoNum type="arabicPeriod"/>
            </a:pPr>
            <a:r>
              <a:rPr lang="en-IN" sz="1600" dirty="0">
                <a:latin typeface="Yu Gothic Medium" panose="020B0500000000000000" pitchFamily="34" charset="-128"/>
                <a:ea typeface="Yu Gothic Medium" panose="020B0500000000000000" pitchFamily="34" charset="-128"/>
              </a:rPr>
              <a:t>Freelancer applications </a:t>
            </a:r>
          </a:p>
          <a:p>
            <a:pPr marL="1257300" lvl="2" indent="-342900">
              <a:buFont typeface="+mj-lt"/>
              <a:buAutoNum type="arabicPeriod"/>
            </a:pPr>
            <a:r>
              <a:rPr lang="en-IN" sz="1600" dirty="0">
                <a:latin typeface="Yu Gothic Medium" panose="020B0500000000000000" pitchFamily="34" charset="-128"/>
                <a:ea typeface="Yu Gothic Medium" panose="020B0500000000000000" pitchFamily="34" charset="-128"/>
              </a:rPr>
              <a:t>Freelancer selection </a:t>
            </a:r>
          </a:p>
          <a:p>
            <a:pPr marL="1257300" lvl="2" indent="-342900">
              <a:buFont typeface="+mj-lt"/>
              <a:buAutoNum type="arabicPeriod"/>
            </a:pPr>
            <a:r>
              <a:rPr lang="en-IN" sz="1600" dirty="0">
                <a:latin typeface="Yu Gothic Medium" panose="020B0500000000000000" pitchFamily="34" charset="-128"/>
                <a:ea typeface="Yu Gothic Medium" panose="020B0500000000000000" pitchFamily="34" charset="-128"/>
              </a:rPr>
              <a:t>Contract creation </a:t>
            </a:r>
          </a:p>
          <a:p>
            <a:pPr marL="1257300" lvl="2" indent="-342900">
              <a:buFont typeface="+mj-lt"/>
              <a:buAutoNum type="arabicPeriod"/>
            </a:pPr>
            <a:r>
              <a:rPr lang="en-IN" sz="1600" dirty="0">
                <a:latin typeface="Yu Gothic Medium" panose="020B0500000000000000" pitchFamily="34" charset="-128"/>
                <a:ea typeface="Yu Gothic Medium" panose="020B0500000000000000" pitchFamily="34" charset="-128"/>
              </a:rPr>
              <a:t>Milestone tracking </a:t>
            </a:r>
          </a:p>
          <a:p>
            <a:pPr marL="1257300" lvl="2" indent="-342900">
              <a:buFont typeface="+mj-lt"/>
              <a:buAutoNum type="arabicPeriod"/>
            </a:pPr>
            <a:r>
              <a:rPr lang="en-IN" sz="1600" dirty="0">
                <a:latin typeface="Yu Gothic Medium" panose="020B0500000000000000" pitchFamily="34" charset="-128"/>
                <a:ea typeface="Yu Gothic Medium" panose="020B0500000000000000" pitchFamily="34" charset="-128"/>
              </a:rPr>
              <a:t>Work submission </a:t>
            </a:r>
          </a:p>
          <a:p>
            <a:pPr marL="1257300" lvl="2" indent="-342900">
              <a:buFont typeface="+mj-lt"/>
              <a:buAutoNum type="arabicPeriod"/>
            </a:pPr>
            <a:r>
              <a:rPr lang="en-IN" sz="1600" dirty="0">
                <a:latin typeface="Yu Gothic Medium" panose="020B0500000000000000" pitchFamily="34" charset="-128"/>
                <a:ea typeface="Yu Gothic Medium" panose="020B0500000000000000" pitchFamily="34" charset="-128"/>
              </a:rPr>
              <a:t>Client approval </a:t>
            </a:r>
          </a:p>
          <a:p>
            <a:pPr lvl="0"/>
            <a:r>
              <a:rPr lang="en-IN" sz="1800" dirty="0">
                <a:latin typeface="Yu Gothic Medium" panose="020B0500000000000000" pitchFamily="34" charset="-128"/>
                <a:ea typeface="Yu Gothic Medium" panose="020B0500000000000000" pitchFamily="34" charset="-128"/>
              </a:rPr>
              <a:t>Uses an </a:t>
            </a:r>
            <a:r>
              <a:rPr lang="en-IN" sz="1800" b="1" dirty="0">
                <a:latin typeface="Yu Gothic Medium" panose="020B0500000000000000" pitchFamily="34" charset="-128"/>
                <a:ea typeface="Yu Gothic Medium" panose="020B0500000000000000" pitchFamily="34" charset="-128"/>
              </a:rPr>
              <a:t>escrow payment mechanism</a:t>
            </a:r>
            <a:r>
              <a:rPr lang="en-IN" sz="1800" dirty="0">
                <a:latin typeface="Yu Gothic Medium" panose="020B0500000000000000" pitchFamily="34" charset="-128"/>
                <a:ea typeface="Yu Gothic Medium" panose="020B0500000000000000" pitchFamily="34" charset="-128"/>
              </a:rPr>
              <a:t> to securely hold client payments. </a:t>
            </a:r>
          </a:p>
          <a:p>
            <a:pPr lvl="0"/>
            <a:r>
              <a:rPr lang="en-IN" sz="1800" dirty="0">
                <a:latin typeface="Yu Gothic Medium" panose="020B0500000000000000" pitchFamily="34" charset="-128"/>
                <a:ea typeface="Yu Gothic Medium" panose="020B0500000000000000" pitchFamily="34" charset="-128"/>
              </a:rPr>
              <a:t>Payment is released to the freelancer </a:t>
            </a:r>
            <a:r>
              <a:rPr lang="en-IN" sz="1800" b="1" dirty="0">
                <a:latin typeface="Yu Gothic Medium" panose="020B0500000000000000" pitchFamily="34" charset="-128"/>
                <a:ea typeface="Yu Gothic Medium" panose="020B0500000000000000" pitchFamily="34" charset="-128"/>
              </a:rPr>
              <a:t>after the submitted work is approved</a:t>
            </a:r>
            <a:r>
              <a:rPr lang="en-IN" sz="1800" dirty="0">
                <a:latin typeface="Yu Gothic Medium" panose="020B0500000000000000" pitchFamily="34" charset="-128"/>
                <a:ea typeface="Yu Gothic Medium" panose="020B0500000000000000" pitchFamily="34" charset="-128"/>
              </a:rPr>
              <a:t>. </a:t>
            </a:r>
          </a:p>
          <a:p>
            <a:pPr lvl="0"/>
            <a:r>
              <a:rPr lang="en-IN" sz="1800" dirty="0">
                <a:latin typeface="Yu Gothic Medium" panose="020B0500000000000000" pitchFamily="34" charset="-128"/>
                <a:ea typeface="Yu Gothic Medium" panose="020B0500000000000000" pitchFamily="34" charset="-128"/>
              </a:rPr>
              <a:t>Helps provide </a:t>
            </a:r>
            <a:r>
              <a:rPr lang="en-IN" sz="1800" b="1" dirty="0">
                <a:latin typeface="Yu Gothic Medium" panose="020B0500000000000000" pitchFamily="34" charset="-128"/>
                <a:ea typeface="Yu Gothic Medium" panose="020B0500000000000000" pitchFamily="34" charset="-128"/>
              </a:rPr>
              <a:t>trust, security, and transparency</a:t>
            </a:r>
            <a:r>
              <a:rPr lang="en-IN" sz="1800" dirty="0">
                <a:latin typeface="Yu Gothic Medium" panose="020B0500000000000000" pitchFamily="34" charset="-128"/>
                <a:ea typeface="Yu Gothic Medium" panose="020B0500000000000000" pitchFamily="34" charset="-128"/>
              </a:rPr>
              <a:t> to both clients and freelancers. </a:t>
            </a:r>
          </a:p>
          <a:p>
            <a:pPr lvl="0"/>
            <a:r>
              <a:rPr lang="en-IN" sz="1800" dirty="0">
                <a:latin typeface="Yu Gothic Medium" panose="020B0500000000000000" pitchFamily="34" charset="-128"/>
                <a:ea typeface="Yu Gothic Medium" panose="020B0500000000000000" pitchFamily="34" charset="-128"/>
              </a:rPr>
              <a:t>Maintains records of </a:t>
            </a:r>
            <a:r>
              <a:rPr lang="en-IN" sz="1800" b="1" dirty="0">
                <a:latin typeface="Yu Gothic Medium" panose="020B0500000000000000" pitchFamily="34" charset="-128"/>
                <a:ea typeface="Yu Gothic Medium" panose="020B0500000000000000" pitchFamily="34" charset="-128"/>
              </a:rPr>
              <a:t>projects, proposals, contracts, milestones, payments, disputes, and reviews</a:t>
            </a:r>
            <a:r>
              <a:rPr lang="en-IN" sz="1800" dirty="0">
                <a:latin typeface="Yu Gothic Medium" panose="020B0500000000000000" pitchFamily="34" charset="-128"/>
                <a:ea typeface="Yu Gothic Medium" panose="020B0500000000000000" pitchFamily="34" charset="-128"/>
              </a:rPr>
              <a:t>. </a:t>
            </a:r>
          </a:p>
          <a:p>
            <a:pPr lvl="0"/>
            <a:r>
              <a:rPr lang="en-IN" sz="1800" dirty="0">
                <a:latin typeface="Yu Gothic Medium" panose="020B0500000000000000" pitchFamily="34" charset="-128"/>
                <a:ea typeface="Yu Gothic Medium" panose="020B0500000000000000" pitchFamily="34" charset="-128"/>
              </a:rPr>
              <a:t>Provides a </a:t>
            </a:r>
            <a:r>
              <a:rPr lang="en-IN" sz="1800" b="1" dirty="0">
                <a:latin typeface="Yu Gothic Medium" panose="020B0500000000000000" pitchFamily="34" charset="-128"/>
                <a:ea typeface="Yu Gothic Medium" panose="020B0500000000000000" pitchFamily="34" charset="-128"/>
              </a:rPr>
              <a:t>complete record of each transaction</a:t>
            </a:r>
            <a:r>
              <a:rPr lang="en-IN" sz="1800" dirty="0">
                <a:latin typeface="Yu Gothic Medium" panose="020B0500000000000000" pitchFamily="34" charset="-128"/>
                <a:ea typeface="Yu Gothic Medium" panose="020B0500000000000000" pitchFamily="34" charset="-128"/>
              </a:rPr>
              <a:t>.</a:t>
            </a:r>
          </a:p>
          <a:p>
            <a:endParaRPr lang="en-US" sz="12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a:xfrm>
            <a:off x="838200" y="136525"/>
            <a:ext cx="10515600" cy="1325563"/>
          </a:xfrm>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a:xfrm>
            <a:off x="658091" y="1312862"/>
            <a:ext cx="10695709" cy="4232275"/>
          </a:xfrm>
        </p:spPr>
        <p:txBody>
          <a:bodyPr>
            <a:noAutofit/>
          </a:bodyPr>
          <a:lstStyle/>
          <a:p>
            <a:pPr lvl="0">
              <a:lnSpc>
                <a:spcPct val="120000"/>
              </a:lnSpc>
            </a:pPr>
            <a:r>
              <a:rPr lang="en-IN" sz="1600" dirty="0">
                <a:latin typeface="Yu Gothic Medium" panose="020B0500000000000000" pitchFamily="34" charset="-128"/>
                <a:ea typeface="Yu Gothic Medium" panose="020B0500000000000000" pitchFamily="34" charset="-128"/>
              </a:rPr>
              <a:t>Existing freelance platforms provide a common space for </a:t>
            </a:r>
            <a:r>
              <a:rPr lang="en-IN" sz="1600" b="1" dirty="0">
                <a:latin typeface="Yu Gothic Medium" panose="020B0500000000000000" pitchFamily="34" charset="-128"/>
                <a:ea typeface="Yu Gothic Medium" panose="020B0500000000000000" pitchFamily="34" charset="-128"/>
              </a:rPr>
              <a:t>clients to post projects and freelancers to find and apply for jobs</a:t>
            </a:r>
            <a:r>
              <a:rPr lang="en-IN" sz="1600" dirty="0">
                <a:latin typeface="Yu Gothic Medium" panose="020B0500000000000000" pitchFamily="34" charset="-128"/>
                <a:ea typeface="Yu Gothic Medium" panose="020B0500000000000000" pitchFamily="34" charset="-128"/>
              </a:rPr>
              <a:t>. </a:t>
            </a:r>
          </a:p>
          <a:p>
            <a:pPr lvl="0">
              <a:lnSpc>
                <a:spcPct val="120000"/>
              </a:lnSpc>
            </a:pPr>
            <a:r>
              <a:rPr lang="en-IN" sz="1600" dirty="0">
                <a:latin typeface="Yu Gothic Medium" panose="020B0500000000000000" pitchFamily="34" charset="-128"/>
                <a:ea typeface="Yu Gothic Medium" panose="020B0500000000000000" pitchFamily="34" charset="-128"/>
              </a:rPr>
              <a:t>Clients can review freelancer profiles, proposals, skills, and experience before </a:t>
            </a:r>
            <a:r>
              <a:rPr lang="en-IN" sz="1600" b="1" dirty="0">
                <a:latin typeface="Yu Gothic Medium" panose="020B0500000000000000" pitchFamily="34" charset="-128"/>
                <a:ea typeface="Yu Gothic Medium" panose="020B0500000000000000" pitchFamily="34" charset="-128"/>
              </a:rPr>
              <a:t>selecting a suitable freelancer</a:t>
            </a:r>
            <a:r>
              <a:rPr lang="en-IN" sz="1600" dirty="0">
                <a:latin typeface="Yu Gothic Medium" panose="020B0500000000000000" pitchFamily="34" charset="-128"/>
                <a:ea typeface="Yu Gothic Medium" panose="020B0500000000000000" pitchFamily="34" charset="-128"/>
              </a:rPr>
              <a:t>. </a:t>
            </a:r>
          </a:p>
          <a:p>
            <a:pPr lvl="0">
              <a:lnSpc>
                <a:spcPct val="120000"/>
              </a:lnSpc>
            </a:pPr>
            <a:r>
              <a:rPr lang="en-IN" sz="1600" dirty="0">
                <a:latin typeface="Yu Gothic Medium" panose="020B0500000000000000" pitchFamily="34" charset="-128"/>
                <a:ea typeface="Yu Gothic Medium" panose="020B0500000000000000" pitchFamily="34" charset="-128"/>
              </a:rPr>
              <a:t>Projects are usually managed through </a:t>
            </a:r>
            <a:r>
              <a:rPr lang="en-IN" sz="1600" b="1" dirty="0">
                <a:latin typeface="Yu Gothic Medium" panose="020B0500000000000000" pitchFamily="34" charset="-128"/>
                <a:ea typeface="Yu Gothic Medium" panose="020B0500000000000000" pitchFamily="34" charset="-128"/>
              </a:rPr>
              <a:t>contracts, deadlines, milestones, and work submissions</a:t>
            </a:r>
            <a:r>
              <a:rPr lang="en-IN" sz="1600" dirty="0">
                <a:latin typeface="Yu Gothic Medium" panose="020B0500000000000000" pitchFamily="34" charset="-128"/>
                <a:ea typeface="Yu Gothic Medium" panose="020B0500000000000000" pitchFamily="34" charset="-128"/>
              </a:rPr>
              <a:t>. </a:t>
            </a:r>
          </a:p>
          <a:p>
            <a:pPr lvl="0">
              <a:lnSpc>
                <a:spcPct val="120000"/>
              </a:lnSpc>
            </a:pPr>
            <a:r>
              <a:rPr lang="en-IN" sz="1600" dirty="0">
                <a:latin typeface="Yu Gothic Medium" panose="020B0500000000000000" pitchFamily="34" charset="-128"/>
                <a:ea typeface="Yu Gothic Medium" panose="020B0500000000000000" pitchFamily="34" charset="-128"/>
              </a:rPr>
              <a:t>Payment systems are available, but the </a:t>
            </a:r>
            <a:r>
              <a:rPr lang="en-IN" sz="1600" b="1" dirty="0">
                <a:latin typeface="Yu Gothic Medium" panose="020B0500000000000000" pitchFamily="34" charset="-128"/>
                <a:ea typeface="Yu Gothic Medium" panose="020B0500000000000000" pitchFamily="34" charset="-128"/>
              </a:rPr>
              <a:t>payment process and release conditions may vary</a:t>
            </a:r>
            <a:r>
              <a:rPr lang="en-IN" sz="1600" dirty="0">
                <a:latin typeface="Yu Gothic Medium" panose="020B0500000000000000" pitchFamily="34" charset="-128"/>
                <a:ea typeface="Yu Gothic Medium" panose="020B0500000000000000" pitchFamily="34" charset="-128"/>
              </a:rPr>
              <a:t> between platforms. </a:t>
            </a:r>
          </a:p>
          <a:p>
            <a:pPr lvl="0">
              <a:lnSpc>
                <a:spcPct val="120000"/>
              </a:lnSpc>
            </a:pPr>
            <a:r>
              <a:rPr lang="en-IN" sz="1600" dirty="0">
                <a:latin typeface="Yu Gothic Medium" panose="020B0500000000000000" pitchFamily="34" charset="-128"/>
                <a:ea typeface="Yu Gothic Medium" panose="020B0500000000000000" pitchFamily="34" charset="-128"/>
              </a:rPr>
              <a:t>Disagreements may arise due to </a:t>
            </a:r>
            <a:r>
              <a:rPr lang="en-IN" sz="1600" b="1" dirty="0">
                <a:latin typeface="Yu Gothic Medium" panose="020B0500000000000000" pitchFamily="34" charset="-128"/>
                <a:ea typeface="Yu Gothic Medium" panose="020B0500000000000000" pitchFamily="34" charset="-128"/>
              </a:rPr>
              <a:t>unclear project requirements, incomplete work, delayed submissions, or payment issues</a:t>
            </a:r>
            <a:r>
              <a:rPr lang="en-IN" sz="1600" dirty="0">
                <a:latin typeface="Yu Gothic Medium" panose="020B0500000000000000" pitchFamily="34" charset="-128"/>
                <a:ea typeface="Yu Gothic Medium" panose="020B0500000000000000" pitchFamily="34" charset="-128"/>
              </a:rPr>
              <a:t>. </a:t>
            </a:r>
          </a:p>
          <a:p>
            <a:pPr lvl="0">
              <a:lnSpc>
                <a:spcPct val="120000"/>
              </a:lnSpc>
            </a:pPr>
            <a:r>
              <a:rPr lang="en-IN" sz="1600" dirty="0">
                <a:latin typeface="Yu Gothic Medium" panose="020B0500000000000000" pitchFamily="34" charset="-128"/>
                <a:ea typeface="Yu Gothic Medium" panose="020B0500000000000000" pitchFamily="34" charset="-128"/>
              </a:rPr>
              <a:t>Tracking </a:t>
            </a:r>
            <a:r>
              <a:rPr lang="en-IN" sz="1600" b="1" dirty="0">
                <a:latin typeface="Yu Gothic Medium" panose="020B0500000000000000" pitchFamily="34" charset="-128"/>
                <a:ea typeface="Yu Gothic Medium" panose="020B0500000000000000" pitchFamily="34" charset="-128"/>
              </a:rPr>
              <a:t>project progress, milestones, approvals, and payments</a:t>
            </a:r>
            <a:r>
              <a:rPr lang="en-IN" sz="1600" dirty="0">
                <a:latin typeface="Yu Gothic Medium" panose="020B0500000000000000" pitchFamily="34" charset="-128"/>
                <a:ea typeface="Yu Gothic Medium" panose="020B0500000000000000" pitchFamily="34" charset="-128"/>
              </a:rPr>
              <a:t> can become difficult when information is not organized in one workflow. </a:t>
            </a:r>
          </a:p>
          <a:p>
            <a:pPr lvl="0">
              <a:lnSpc>
                <a:spcPct val="120000"/>
              </a:lnSpc>
            </a:pPr>
            <a:r>
              <a:rPr lang="en-IN" sz="1600" dirty="0">
                <a:latin typeface="Yu Gothic Medium" panose="020B0500000000000000" pitchFamily="34" charset="-128"/>
                <a:ea typeface="Yu Gothic Medium" panose="020B0500000000000000" pitchFamily="34" charset="-128"/>
              </a:rPr>
              <a:t>There is a need for a more </a:t>
            </a:r>
            <a:r>
              <a:rPr lang="en-IN" sz="1600" b="1" dirty="0">
                <a:latin typeface="Yu Gothic Medium" panose="020B0500000000000000" pitchFamily="34" charset="-128"/>
                <a:ea typeface="Yu Gothic Medium" panose="020B0500000000000000" pitchFamily="34" charset="-128"/>
              </a:rPr>
              <a:t>structured, transparent, and secure payment process</a:t>
            </a:r>
            <a:r>
              <a:rPr lang="en-IN" sz="1600" dirty="0">
                <a:latin typeface="Yu Gothic Medium" panose="020B0500000000000000" pitchFamily="34" charset="-128"/>
                <a:ea typeface="Yu Gothic Medium" panose="020B0500000000000000" pitchFamily="34" charset="-128"/>
              </a:rPr>
              <a:t> that protects both clients and freelancers. </a:t>
            </a:r>
          </a:p>
          <a:p>
            <a:pPr lvl="0">
              <a:lnSpc>
                <a:spcPct val="120000"/>
              </a:lnSpc>
            </a:pPr>
            <a:r>
              <a:rPr lang="en-IN" sz="1600" dirty="0">
                <a:latin typeface="Yu Gothic Medium" panose="020B0500000000000000" pitchFamily="34" charset="-128"/>
                <a:ea typeface="Yu Gothic Medium" panose="020B0500000000000000" pitchFamily="34" charset="-128"/>
              </a:rPr>
              <a:t>The existing approach can be improved by integrating </a:t>
            </a:r>
            <a:r>
              <a:rPr lang="en-IN" sz="1600" b="1" dirty="0">
                <a:latin typeface="Yu Gothic Medium" panose="020B0500000000000000" pitchFamily="34" charset="-128"/>
                <a:ea typeface="Yu Gothic Medium" panose="020B0500000000000000" pitchFamily="34" charset="-128"/>
              </a:rPr>
              <a:t>project management and escrow-based payment handling</a:t>
            </a:r>
            <a:r>
              <a:rPr lang="en-IN" sz="1600" dirty="0">
                <a:latin typeface="Yu Gothic Medium" panose="020B0500000000000000" pitchFamily="34" charset="-128"/>
                <a:ea typeface="Yu Gothic Medium" panose="020B0500000000000000" pitchFamily="34" charset="-128"/>
              </a:rPr>
              <a:t> into a single system. </a:t>
            </a:r>
          </a:p>
          <a:p>
            <a:pPr>
              <a:lnSpc>
                <a:spcPct val="120000"/>
              </a:lnSpc>
            </a:pPr>
            <a:endParaRPr lang="en-US" sz="16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a:bodyPr>
          <a:lstStyle/>
          <a:p>
            <a:pPr lvl="0">
              <a:lnSpc>
                <a:spcPct val="100000"/>
              </a:lnSpc>
            </a:pPr>
            <a:r>
              <a:rPr lang="en-IN" sz="2000" dirty="0">
                <a:latin typeface="Yu Gothic Medium" panose="020B0500000000000000" pitchFamily="34" charset="-128"/>
                <a:ea typeface="Yu Gothic Medium" panose="020B0500000000000000" pitchFamily="34" charset="-128"/>
              </a:rPr>
              <a:t>Freelance projects involve multiple stages such as </a:t>
            </a:r>
            <a:r>
              <a:rPr lang="en-IN" sz="2000" b="1" dirty="0">
                <a:latin typeface="Yu Gothic Medium" panose="020B0500000000000000" pitchFamily="34" charset="-128"/>
                <a:ea typeface="Yu Gothic Medium" panose="020B0500000000000000" pitchFamily="34" charset="-128"/>
              </a:rPr>
              <a:t>job posting, proposals, contracts, milestones, and payments</a:t>
            </a:r>
            <a:r>
              <a:rPr lang="en-IN" sz="2000" dirty="0">
                <a:latin typeface="Yu Gothic Medium" panose="020B0500000000000000" pitchFamily="34" charset="-128"/>
                <a:ea typeface="Yu Gothic Medium" panose="020B0500000000000000" pitchFamily="34" charset="-128"/>
              </a:rPr>
              <a:t>. </a:t>
            </a:r>
          </a:p>
          <a:p>
            <a:pPr lvl="0">
              <a:lnSpc>
                <a:spcPct val="100000"/>
              </a:lnSpc>
            </a:pPr>
            <a:r>
              <a:rPr lang="en-IN" sz="2000" dirty="0">
                <a:latin typeface="Yu Gothic Medium" panose="020B0500000000000000" pitchFamily="34" charset="-128"/>
                <a:ea typeface="Yu Gothic Medium" panose="020B0500000000000000" pitchFamily="34" charset="-128"/>
              </a:rPr>
              <a:t>Managing the complete project lifecycle can be difficult for </a:t>
            </a:r>
            <a:r>
              <a:rPr lang="en-IN" sz="2000" b="1" dirty="0">
                <a:latin typeface="Yu Gothic Medium" panose="020B0500000000000000" pitchFamily="34" charset="-128"/>
                <a:ea typeface="Yu Gothic Medium" panose="020B0500000000000000" pitchFamily="34" charset="-128"/>
              </a:rPr>
              <a:t>clients and freelancers</a:t>
            </a:r>
            <a:r>
              <a:rPr lang="en-IN" sz="2000" dirty="0">
                <a:latin typeface="Yu Gothic Medium" panose="020B0500000000000000" pitchFamily="34" charset="-128"/>
                <a:ea typeface="Yu Gothic Medium" panose="020B0500000000000000" pitchFamily="34" charset="-128"/>
              </a:rPr>
              <a:t>. </a:t>
            </a:r>
          </a:p>
          <a:p>
            <a:pPr lvl="0">
              <a:lnSpc>
                <a:spcPct val="100000"/>
              </a:lnSpc>
            </a:pPr>
            <a:r>
              <a:rPr lang="en-IN" sz="2000" dirty="0">
                <a:latin typeface="Yu Gothic Medium" panose="020B0500000000000000" pitchFamily="34" charset="-128"/>
                <a:ea typeface="Yu Gothic Medium" panose="020B0500000000000000" pitchFamily="34" charset="-128"/>
              </a:rPr>
              <a:t>Clients may face </a:t>
            </a:r>
            <a:r>
              <a:rPr lang="en-IN" sz="2000" b="1" dirty="0">
                <a:latin typeface="Yu Gothic Medium" panose="020B0500000000000000" pitchFamily="34" charset="-128"/>
                <a:ea typeface="Yu Gothic Medium" panose="020B0500000000000000" pitchFamily="34" charset="-128"/>
              </a:rPr>
              <a:t>incomplete work, missed deadlines, and payment security concerns</a:t>
            </a:r>
            <a:r>
              <a:rPr lang="en-IN" sz="2000" dirty="0">
                <a:latin typeface="Yu Gothic Medium" panose="020B0500000000000000" pitchFamily="34" charset="-128"/>
                <a:ea typeface="Yu Gothic Medium" panose="020B0500000000000000" pitchFamily="34" charset="-128"/>
              </a:rPr>
              <a:t>. </a:t>
            </a:r>
          </a:p>
          <a:p>
            <a:pPr lvl="0">
              <a:lnSpc>
                <a:spcPct val="100000"/>
              </a:lnSpc>
            </a:pPr>
            <a:r>
              <a:rPr lang="en-IN" sz="2000" dirty="0">
                <a:latin typeface="Yu Gothic Medium" panose="020B0500000000000000" pitchFamily="34" charset="-128"/>
                <a:ea typeface="Yu Gothic Medium" panose="020B0500000000000000" pitchFamily="34" charset="-128"/>
              </a:rPr>
              <a:t>Freelancers may experience </a:t>
            </a:r>
            <a:r>
              <a:rPr lang="en-IN" sz="2000" b="1" dirty="0">
                <a:latin typeface="Yu Gothic Medium" panose="020B0500000000000000" pitchFamily="34" charset="-128"/>
                <a:ea typeface="Yu Gothic Medium" panose="020B0500000000000000" pitchFamily="34" charset="-128"/>
              </a:rPr>
              <a:t>delayed payments and payment disputes</a:t>
            </a:r>
            <a:r>
              <a:rPr lang="en-IN" sz="2000" dirty="0">
                <a:latin typeface="Yu Gothic Medium" panose="020B0500000000000000" pitchFamily="34" charset="-128"/>
                <a:ea typeface="Yu Gothic Medium" panose="020B0500000000000000" pitchFamily="34" charset="-128"/>
              </a:rPr>
              <a:t>. </a:t>
            </a:r>
          </a:p>
          <a:p>
            <a:pPr lvl="0">
              <a:lnSpc>
                <a:spcPct val="100000"/>
              </a:lnSpc>
            </a:pPr>
            <a:r>
              <a:rPr lang="en-IN" sz="2000" dirty="0">
                <a:latin typeface="Yu Gothic Medium" panose="020B0500000000000000" pitchFamily="34" charset="-128"/>
                <a:ea typeface="Yu Gothic Medium" panose="020B0500000000000000" pitchFamily="34" charset="-128"/>
              </a:rPr>
              <a:t>Lack of a structured payment process can reduce </a:t>
            </a:r>
            <a:r>
              <a:rPr lang="en-IN" sz="2000" b="1" dirty="0">
                <a:latin typeface="Yu Gothic Medium" panose="020B0500000000000000" pitchFamily="34" charset="-128"/>
                <a:ea typeface="Yu Gothic Medium" panose="020B0500000000000000" pitchFamily="34" charset="-128"/>
              </a:rPr>
              <a:t>trust and transparency</a:t>
            </a:r>
            <a:r>
              <a:rPr lang="en-IN" sz="2000" dirty="0">
                <a:latin typeface="Yu Gothic Medium" panose="020B0500000000000000" pitchFamily="34" charset="-128"/>
                <a:ea typeface="Yu Gothic Medium" panose="020B0500000000000000" pitchFamily="34" charset="-128"/>
              </a:rPr>
              <a:t>. </a:t>
            </a:r>
          </a:p>
          <a:p>
            <a:pPr lvl="0">
              <a:lnSpc>
                <a:spcPct val="100000"/>
              </a:lnSpc>
            </a:pPr>
            <a:r>
              <a:rPr lang="en-IN" sz="2000" dirty="0">
                <a:latin typeface="Yu Gothic Medium" panose="020B0500000000000000" pitchFamily="34" charset="-128"/>
                <a:ea typeface="Yu Gothic Medium" panose="020B0500000000000000" pitchFamily="34" charset="-128"/>
              </a:rPr>
              <a:t>A centralized system with </a:t>
            </a:r>
            <a:r>
              <a:rPr lang="en-IN" sz="2000" b="1" dirty="0">
                <a:latin typeface="Yu Gothic Medium" panose="020B0500000000000000" pitchFamily="34" charset="-128"/>
                <a:ea typeface="Yu Gothic Medium" panose="020B0500000000000000" pitchFamily="34" charset="-128"/>
              </a:rPr>
              <a:t>secure escrow-based payments</a:t>
            </a:r>
            <a:r>
              <a:rPr lang="en-IN" sz="2000" dirty="0">
                <a:latin typeface="Yu Gothic Medium" panose="020B0500000000000000" pitchFamily="34" charset="-128"/>
                <a:ea typeface="Yu Gothic Medium" panose="020B0500000000000000" pitchFamily="34" charset="-128"/>
              </a:rPr>
              <a:t> is needed to reduce payment risks.</a:t>
            </a:r>
          </a:p>
          <a:p>
            <a:pPr marL="0" indent="0">
              <a:lnSpc>
                <a:spcPct val="100000"/>
              </a:lnSpc>
              <a:buNone/>
            </a:pPr>
            <a:endParaRPr lang="en-US" sz="16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a:xfrm>
            <a:off x="838200" y="384810"/>
            <a:ext cx="10515600" cy="1325563"/>
          </a:xfrm>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a:xfrm>
            <a:off x="838200" y="1847850"/>
            <a:ext cx="10515600" cy="4351338"/>
          </a:xfrm>
        </p:spPr>
        <p:txBody>
          <a:bodyPr>
            <a:normAutofit/>
          </a:bodyPr>
          <a:lstStyle/>
          <a:p>
            <a:pPr lvl="0">
              <a:lnSpc>
                <a:spcPct val="100000"/>
              </a:lnSpc>
            </a:pPr>
            <a:r>
              <a:rPr lang="en-IN" sz="2000" dirty="0">
                <a:latin typeface="Yu Gothic Medium" panose="020B0500000000000000" pitchFamily="34" charset="-128"/>
                <a:ea typeface="Yu Gothic Medium" panose="020B0500000000000000" pitchFamily="34" charset="-128"/>
              </a:rPr>
              <a:t>Develop a </a:t>
            </a:r>
            <a:r>
              <a:rPr lang="en-IN" sz="2000" b="1" dirty="0">
                <a:latin typeface="Yu Gothic Medium" panose="020B0500000000000000" pitchFamily="34" charset="-128"/>
                <a:ea typeface="Yu Gothic Medium" panose="020B0500000000000000" pitchFamily="34" charset="-128"/>
              </a:rPr>
              <a:t>centralized freelance marketplace</a:t>
            </a:r>
            <a:r>
              <a:rPr lang="en-IN" sz="2000" dirty="0">
                <a:latin typeface="Yu Gothic Medium" panose="020B0500000000000000" pitchFamily="34" charset="-128"/>
                <a:ea typeface="Yu Gothic Medium" panose="020B0500000000000000" pitchFamily="34" charset="-128"/>
              </a:rPr>
              <a:t> for clients and freelancers. </a:t>
            </a:r>
          </a:p>
          <a:p>
            <a:pPr lvl="0">
              <a:lnSpc>
                <a:spcPct val="100000"/>
              </a:lnSpc>
            </a:pPr>
            <a:r>
              <a:rPr lang="en-IN" sz="2000" dirty="0">
                <a:latin typeface="Yu Gothic Medium" panose="020B0500000000000000" pitchFamily="34" charset="-128"/>
                <a:ea typeface="Yu Gothic Medium" panose="020B0500000000000000" pitchFamily="34" charset="-128"/>
              </a:rPr>
              <a:t>Provide a complete workflow from </a:t>
            </a:r>
            <a:r>
              <a:rPr lang="en-IN" sz="2000" b="1" dirty="0">
                <a:latin typeface="Yu Gothic Medium" panose="020B0500000000000000" pitchFamily="34" charset="-128"/>
                <a:ea typeface="Yu Gothic Medium" panose="020B0500000000000000" pitchFamily="34" charset="-128"/>
              </a:rPr>
              <a:t>job posting to project completion</a:t>
            </a:r>
            <a:r>
              <a:rPr lang="en-IN" sz="2000" dirty="0">
                <a:latin typeface="Yu Gothic Medium" panose="020B0500000000000000" pitchFamily="34" charset="-128"/>
                <a:ea typeface="Yu Gothic Medium" panose="020B0500000000000000" pitchFamily="34" charset="-128"/>
              </a:rPr>
              <a:t>. </a:t>
            </a:r>
          </a:p>
          <a:p>
            <a:pPr lvl="0">
              <a:lnSpc>
                <a:spcPct val="100000"/>
              </a:lnSpc>
            </a:pPr>
            <a:r>
              <a:rPr lang="en-IN" sz="2000" dirty="0">
                <a:latin typeface="Yu Gothic Medium" panose="020B0500000000000000" pitchFamily="34" charset="-128"/>
                <a:ea typeface="Yu Gothic Medium" panose="020B0500000000000000" pitchFamily="34" charset="-128"/>
              </a:rPr>
              <a:t>Manage </a:t>
            </a:r>
            <a:r>
              <a:rPr lang="en-IN" sz="2000" b="1" dirty="0">
                <a:latin typeface="Yu Gothic Medium" panose="020B0500000000000000" pitchFamily="34" charset="-128"/>
                <a:ea typeface="Yu Gothic Medium" panose="020B0500000000000000" pitchFamily="34" charset="-128"/>
              </a:rPr>
              <a:t>proposals, contracts, and project milestones</a:t>
            </a:r>
            <a:r>
              <a:rPr lang="en-IN" sz="2000" dirty="0">
                <a:latin typeface="Yu Gothic Medium" panose="020B0500000000000000" pitchFamily="34" charset="-128"/>
                <a:ea typeface="Yu Gothic Medium" panose="020B0500000000000000" pitchFamily="34" charset="-128"/>
              </a:rPr>
              <a:t> in one platform. </a:t>
            </a:r>
          </a:p>
          <a:p>
            <a:pPr lvl="0">
              <a:lnSpc>
                <a:spcPct val="100000"/>
              </a:lnSpc>
            </a:pPr>
            <a:r>
              <a:rPr lang="en-IN" sz="2000" dirty="0">
                <a:latin typeface="Yu Gothic Medium" panose="020B0500000000000000" pitchFamily="34" charset="-128"/>
                <a:ea typeface="Yu Gothic Medium" panose="020B0500000000000000" pitchFamily="34" charset="-128"/>
              </a:rPr>
              <a:t>Implement a </a:t>
            </a:r>
            <a:r>
              <a:rPr lang="en-IN" sz="2000" b="1" dirty="0">
                <a:latin typeface="Yu Gothic Medium" panose="020B0500000000000000" pitchFamily="34" charset="-128"/>
                <a:ea typeface="Yu Gothic Medium" panose="020B0500000000000000" pitchFamily="34" charset="-128"/>
              </a:rPr>
              <a:t>secure escrow payment mechanism</a:t>
            </a:r>
            <a:r>
              <a:rPr lang="en-IN" sz="2000" dirty="0">
                <a:latin typeface="Yu Gothic Medium" panose="020B0500000000000000" pitchFamily="34" charset="-128"/>
                <a:ea typeface="Yu Gothic Medium" panose="020B0500000000000000" pitchFamily="34" charset="-128"/>
              </a:rPr>
              <a:t> for milestone-based payments. </a:t>
            </a:r>
          </a:p>
          <a:p>
            <a:pPr lvl="0">
              <a:lnSpc>
                <a:spcPct val="100000"/>
              </a:lnSpc>
            </a:pPr>
            <a:r>
              <a:rPr lang="en-IN" sz="2000" dirty="0">
                <a:latin typeface="Yu Gothic Medium" panose="020B0500000000000000" pitchFamily="34" charset="-128"/>
                <a:ea typeface="Yu Gothic Medium" panose="020B0500000000000000" pitchFamily="34" charset="-128"/>
              </a:rPr>
              <a:t>Release payments to freelancers after </a:t>
            </a:r>
            <a:r>
              <a:rPr lang="en-IN" sz="2000" b="1" dirty="0">
                <a:latin typeface="Yu Gothic Medium" panose="020B0500000000000000" pitchFamily="34" charset="-128"/>
                <a:ea typeface="Yu Gothic Medium" panose="020B0500000000000000" pitchFamily="34" charset="-128"/>
              </a:rPr>
              <a:t>client approval of completed work</a:t>
            </a:r>
            <a:r>
              <a:rPr lang="en-IN" sz="2000" dirty="0">
                <a:latin typeface="Yu Gothic Medium" panose="020B0500000000000000" pitchFamily="34" charset="-128"/>
                <a:ea typeface="Yu Gothic Medium" panose="020B0500000000000000" pitchFamily="34" charset="-128"/>
              </a:rPr>
              <a:t>. </a:t>
            </a:r>
          </a:p>
          <a:p>
            <a:pPr lvl="0">
              <a:lnSpc>
                <a:spcPct val="100000"/>
              </a:lnSpc>
            </a:pPr>
            <a:r>
              <a:rPr lang="en-IN" sz="2000" dirty="0">
                <a:latin typeface="Yu Gothic Medium" panose="020B0500000000000000" pitchFamily="34" charset="-128"/>
                <a:ea typeface="Yu Gothic Medium" panose="020B0500000000000000" pitchFamily="34" charset="-128"/>
              </a:rPr>
              <a:t>Support </a:t>
            </a:r>
            <a:r>
              <a:rPr lang="en-IN" sz="2000" b="1" dirty="0">
                <a:latin typeface="Yu Gothic Medium" panose="020B0500000000000000" pitchFamily="34" charset="-128"/>
                <a:ea typeface="Yu Gothic Medium" panose="020B0500000000000000" pitchFamily="34" charset="-128"/>
              </a:rPr>
              <a:t>dispute management, communication, and file exchange</a:t>
            </a:r>
            <a:r>
              <a:rPr lang="en-IN" sz="2000" dirty="0">
                <a:latin typeface="Yu Gothic Medium" panose="020B0500000000000000" pitchFamily="34" charset="-128"/>
                <a:ea typeface="Yu Gothic Medium" panose="020B0500000000000000" pitchFamily="34" charset="-128"/>
              </a:rPr>
              <a:t>. </a:t>
            </a:r>
          </a:p>
          <a:p>
            <a:pPr lvl="0">
              <a:lnSpc>
                <a:spcPct val="100000"/>
              </a:lnSpc>
            </a:pPr>
            <a:r>
              <a:rPr lang="en-IN" sz="2000" dirty="0">
                <a:latin typeface="Yu Gothic Medium" panose="020B0500000000000000" pitchFamily="34" charset="-128"/>
                <a:ea typeface="Yu Gothic Medium" panose="020B0500000000000000" pitchFamily="34" charset="-128"/>
              </a:rPr>
              <a:t>Maintain structured records of </a:t>
            </a:r>
            <a:r>
              <a:rPr lang="en-IN" sz="2000" b="1" dirty="0">
                <a:latin typeface="Yu Gothic Medium" panose="020B0500000000000000" pitchFamily="34" charset="-128"/>
                <a:ea typeface="Yu Gothic Medium" panose="020B0500000000000000" pitchFamily="34" charset="-128"/>
              </a:rPr>
              <a:t>projects, payments, and transactions</a:t>
            </a:r>
            <a:r>
              <a:rPr lang="en-IN" sz="2000" dirty="0">
                <a:latin typeface="Yu Gothic Medium" panose="020B0500000000000000" pitchFamily="34" charset="-128"/>
                <a:ea typeface="Yu Gothic Medium" panose="020B0500000000000000" pitchFamily="34" charset="-128"/>
              </a:rPr>
              <a:t> using MySQL.</a:t>
            </a:r>
          </a:p>
          <a:p>
            <a:pPr>
              <a:lnSpc>
                <a:spcPct val="100000"/>
              </a:lnSpc>
            </a:pPr>
            <a:endParaRPr lang="en-US" sz="20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a:xfrm>
            <a:off x="838200" y="1707833"/>
            <a:ext cx="10515600" cy="4351338"/>
          </a:xfrm>
        </p:spPr>
        <p:txBody>
          <a:bodyPr>
            <a:normAutofit/>
          </a:bodyPr>
          <a:lstStyle/>
          <a:p>
            <a:pPr>
              <a:lnSpc>
                <a:spcPct val="150000"/>
              </a:lnSpc>
            </a:pPr>
            <a:r>
              <a:rPr lang="en-IN" sz="2000" dirty="0">
                <a:latin typeface="Yu Gothic Medium" panose="020B0500000000000000" pitchFamily="34" charset="-128"/>
                <a:ea typeface="Yu Gothic Medium" panose="020B0500000000000000" pitchFamily="34" charset="-128"/>
              </a:rPr>
              <a:t>The main objective of the proposed system is to develop a </a:t>
            </a:r>
            <a:r>
              <a:rPr lang="en-IN" sz="2000" b="1" dirty="0">
                <a:latin typeface="Yu Gothic Medium" panose="020B0500000000000000" pitchFamily="34" charset="-128"/>
                <a:ea typeface="Yu Gothic Medium" panose="020B0500000000000000" pitchFamily="34" charset="-128"/>
              </a:rPr>
              <a:t>reliable and organized platform for connecting clients with suitable freelancers</a:t>
            </a:r>
            <a:r>
              <a:rPr lang="en-IN" sz="2000" dirty="0">
                <a:latin typeface="Yu Gothic Medium" panose="020B0500000000000000" pitchFamily="34" charset="-128"/>
                <a:ea typeface="Yu Gothic Medium" panose="020B0500000000000000" pitchFamily="34" charset="-128"/>
              </a:rPr>
              <a:t> and managing freelance projects efficiently. It aims to simplify job posting, freelancer discovery, proposal submission, selection, and project coordination.</a:t>
            </a:r>
          </a:p>
          <a:p>
            <a:pPr>
              <a:lnSpc>
                <a:spcPct val="150000"/>
              </a:lnSpc>
            </a:pPr>
            <a:r>
              <a:rPr lang="en-IN" sz="2000" dirty="0">
                <a:latin typeface="Yu Gothic Medium" panose="020B0500000000000000" pitchFamily="34" charset="-128"/>
                <a:ea typeface="Yu Gothic Medium" panose="020B0500000000000000" pitchFamily="34" charset="-128"/>
              </a:rPr>
              <a:t>Another objective is to provide </a:t>
            </a:r>
            <a:r>
              <a:rPr lang="en-IN" sz="2000" b="1" dirty="0">
                <a:latin typeface="Yu Gothic Medium" panose="020B0500000000000000" pitchFamily="34" charset="-128"/>
                <a:ea typeface="Yu Gothic Medium" panose="020B0500000000000000" pitchFamily="34" charset="-128"/>
              </a:rPr>
              <a:t>secure project and transaction management</a:t>
            </a:r>
            <a:r>
              <a:rPr lang="en-IN" sz="2000" dirty="0">
                <a:latin typeface="Yu Gothic Medium" panose="020B0500000000000000" pitchFamily="34" charset="-128"/>
                <a:ea typeface="Yu Gothic Medium" panose="020B0500000000000000" pitchFamily="34" charset="-128"/>
              </a:rPr>
              <a:t> through contracts, milestones, work submissions, approvals, and escrow payments. The system also aims to maintain accurate records of projects, users, proposals, and reviews while improving </a:t>
            </a:r>
            <a:r>
              <a:rPr lang="en-IN" sz="2000" b="1" dirty="0">
                <a:latin typeface="Yu Gothic Medium" panose="020B0500000000000000" pitchFamily="34" charset="-128"/>
                <a:ea typeface="Yu Gothic Medium" panose="020B0500000000000000" pitchFamily="34" charset="-128"/>
              </a:rPr>
              <a:t>transparency, accountability, and trust</a:t>
            </a:r>
            <a:r>
              <a:rPr lang="en-IN" sz="2000" dirty="0">
                <a:latin typeface="Yu Gothic Medium" panose="020B0500000000000000" pitchFamily="34" charset="-128"/>
                <a:ea typeface="Yu Gothic Medium" panose="020B0500000000000000" pitchFamily="34" charset="-128"/>
              </a:rPr>
              <a:t> between clients and freelancers.</a:t>
            </a:r>
          </a:p>
          <a:p>
            <a:pPr>
              <a:lnSpc>
                <a:spcPct val="150000"/>
              </a:lnSpc>
            </a:pPr>
            <a:endParaRPr lang="en-US" sz="20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a:xfrm>
            <a:off x="838200" y="114140"/>
            <a:ext cx="10515600" cy="1325563"/>
          </a:xfrm>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a:xfrm>
            <a:off x="671483" y="1397316"/>
            <a:ext cx="11194473" cy="4351338"/>
          </a:xfrm>
        </p:spPr>
        <p:txBody>
          <a:bodyPr>
            <a:noAutofit/>
          </a:bodyPr>
          <a:lstStyle/>
          <a:p>
            <a:pPr>
              <a:lnSpc>
                <a:spcPct val="100000"/>
              </a:lnSpc>
            </a:pPr>
            <a:r>
              <a:rPr lang="en-IN" sz="1600" b="1" dirty="0">
                <a:latin typeface="Yu Gothic Medium" panose="020B0500000000000000" pitchFamily="34" charset="-128"/>
                <a:ea typeface="Yu Gothic Medium" panose="020B0500000000000000" pitchFamily="34" charset="-128"/>
              </a:rPr>
              <a:t>User Management</a:t>
            </a:r>
            <a:r>
              <a:rPr lang="en-IN" sz="1600" dirty="0">
                <a:latin typeface="Yu Gothic Medium" panose="020B0500000000000000" pitchFamily="34" charset="-128"/>
                <a:ea typeface="Yu Gothic Medium" panose="020B0500000000000000" pitchFamily="34" charset="-128"/>
              </a:rPr>
              <a:t> – Handles registration, login, profiles, roles, and user account management.</a:t>
            </a:r>
          </a:p>
          <a:p>
            <a:pPr>
              <a:lnSpc>
                <a:spcPct val="100000"/>
              </a:lnSpc>
            </a:pPr>
            <a:r>
              <a:rPr lang="en-IN" sz="1600" b="1" dirty="0">
                <a:latin typeface="Yu Gothic Medium" panose="020B0500000000000000" pitchFamily="34" charset="-128"/>
                <a:ea typeface="Yu Gothic Medium" panose="020B0500000000000000" pitchFamily="34" charset="-128"/>
              </a:rPr>
              <a:t>Project Management</a:t>
            </a:r>
            <a:r>
              <a:rPr lang="en-IN" sz="1600" dirty="0">
                <a:latin typeface="Yu Gothic Medium" panose="020B0500000000000000" pitchFamily="34" charset="-128"/>
                <a:ea typeface="Yu Gothic Medium" panose="020B0500000000000000" pitchFamily="34" charset="-128"/>
              </a:rPr>
              <a:t> – Enables clients to post, update, monitor, and manage projects with requirements, skills, budgets, and deadlines.</a:t>
            </a:r>
          </a:p>
          <a:p>
            <a:pPr>
              <a:lnSpc>
                <a:spcPct val="100000"/>
              </a:lnSpc>
            </a:pPr>
            <a:r>
              <a:rPr lang="en-IN" sz="1600" b="1" dirty="0">
                <a:latin typeface="Yu Gothic Medium" panose="020B0500000000000000" pitchFamily="34" charset="-128"/>
                <a:ea typeface="Yu Gothic Medium" panose="020B0500000000000000" pitchFamily="34" charset="-128"/>
              </a:rPr>
              <a:t>Project Discovery</a:t>
            </a:r>
            <a:r>
              <a:rPr lang="en-IN" sz="1600" dirty="0">
                <a:latin typeface="Yu Gothic Medium" panose="020B0500000000000000" pitchFamily="34" charset="-128"/>
                <a:ea typeface="Yu Gothic Medium" panose="020B0500000000000000" pitchFamily="34" charset="-128"/>
              </a:rPr>
              <a:t> – Helps freelancers search, filter, and find suitable projects based on their skills and preferences.</a:t>
            </a:r>
          </a:p>
          <a:p>
            <a:pPr>
              <a:lnSpc>
                <a:spcPct val="100000"/>
              </a:lnSpc>
            </a:pPr>
            <a:r>
              <a:rPr lang="en-IN" sz="1600" b="1" dirty="0">
                <a:latin typeface="Yu Gothic Medium" panose="020B0500000000000000" pitchFamily="34" charset="-128"/>
                <a:ea typeface="Yu Gothic Medium" panose="020B0500000000000000" pitchFamily="34" charset="-128"/>
              </a:rPr>
              <a:t>Proposal Management</a:t>
            </a:r>
            <a:r>
              <a:rPr lang="en-IN" sz="1600" dirty="0">
                <a:latin typeface="Yu Gothic Medium" panose="020B0500000000000000" pitchFamily="34" charset="-128"/>
                <a:ea typeface="Yu Gothic Medium" panose="020B0500000000000000" pitchFamily="34" charset="-128"/>
              </a:rPr>
              <a:t> – Allows freelancers to submit proposals and clients to compare and evaluate applications.</a:t>
            </a:r>
          </a:p>
          <a:p>
            <a:pPr>
              <a:lnSpc>
                <a:spcPct val="100000"/>
              </a:lnSpc>
            </a:pPr>
            <a:r>
              <a:rPr lang="en-IN" sz="1600" b="1" dirty="0">
                <a:latin typeface="Yu Gothic Medium" panose="020B0500000000000000" pitchFamily="34" charset="-128"/>
                <a:ea typeface="Yu Gothic Medium" panose="020B0500000000000000" pitchFamily="34" charset="-128"/>
              </a:rPr>
              <a:t>Contract Management</a:t>
            </a:r>
            <a:r>
              <a:rPr lang="en-IN" sz="1600" dirty="0">
                <a:latin typeface="Yu Gothic Medium" panose="020B0500000000000000" pitchFamily="34" charset="-128"/>
                <a:ea typeface="Yu Gothic Medium" panose="020B0500000000000000" pitchFamily="34" charset="-128"/>
              </a:rPr>
              <a:t> – Manages freelancer selection, contract creation, project terms, and agreements.</a:t>
            </a:r>
          </a:p>
          <a:p>
            <a:pPr>
              <a:lnSpc>
                <a:spcPct val="100000"/>
              </a:lnSpc>
            </a:pPr>
            <a:r>
              <a:rPr lang="en-IN" sz="1600" b="1" dirty="0">
                <a:latin typeface="Yu Gothic Medium" panose="020B0500000000000000" pitchFamily="34" charset="-128"/>
                <a:ea typeface="Yu Gothic Medium" panose="020B0500000000000000" pitchFamily="34" charset="-128"/>
              </a:rPr>
              <a:t>Milestone Management</a:t>
            </a:r>
            <a:r>
              <a:rPr lang="en-IN" sz="1600" dirty="0">
                <a:latin typeface="Yu Gothic Medium" panose="020B0500000000000000" pitchFamily="34" charset="-128"/>
                <a:ea typeface="Yu Gothic Medium" panose="020B0500000000000000" pitchFamily="34" charset="-128"/>
              </a:rPr>
              <a:t> – Tracks project milestones, deadlines, progress, and completion status.</a:t>
            </a:r>
          </a:p>
          <a:p>
            <a:pPr>
              <a:lnSpc>
                <a:spcPct val="100000"/>
              </a:lnSpc>
            </a:pPr>
            <a:r>
              <a:rPr lang="en-IN" sz="1600" b="1" dirty="0">
                <a:latin typeface="Yu Gothic Medium" panose="020B0500000000000000" pitchFamily="34" charset="-128"/>
                <a:ea typeface="Yu Gothic Medium" panose="020B0500000000000000" pitchFamily="34" charset="-128"/>
              </a:rPr>
              <a:t>Work Submission</a:t>
            </a:r>
            <a:r>
              <a:rPr lang="en-IN" sz="1600" dirty="0">
                <a:latin typeface="Yu Gothic Medium" panose="020B0500000000000000" pitchFamily="34" charset="-128"/>
                <a:ea typeface="Yu Gothic Medium" panose="020B0500000000000000" pitchFamily="34" charset="-128"/>
              </a:rPr>
              <a:t> – Allows freelancers to submit work and clients to review, approve, or request changes.</a:t>
            </a:r>
          </a:p>
          <a:p>
            <a:pPr>
              <a:lnSpc>
                <a:spcPct val="100000"/>
              </a:lnSpc>
            </a:pPr>
            <a:r>
              <a:rPr lang="en-IN" sz="1600" b="1" dirty="0">
                <a:latin typeface="Yu Gothic Medium" panose="020B0500000000000000" pitchFamily="34" charset="-128"/>
                <a:ea typeface="Yu Gothic Medium" panose="020B0500000000000000" pitchFamily="34" charset="-128"/>
              </a:rPr>
              <a:t>Escrow Payment</a:t>
            </a:r>
            <a:r>
              <a:rPr lang="en-IN" sz="1600" dirty="0">
                <a:latin typeface="Yu Gothic Medium" panose="020B0500000000000000" pitchFamily="34" charset="-128"/>
                <a:ea typeface="Yu Gothic Medium" panose="020B0500000000000000" pitchFamily="34" charset="-128"/>
              </a:rPr>
              <a:t> – Holds agreed payments securely and releases them based on project approval.</a:t>
            </a:r>
          </a:p>
          <a:p>
            <a:pPr>
              <a:lnSpc>
                <a:spcPct val="100000"/>
              </a:lnSpc>
            </a:pPr>
            <a:r>
              <a:rPr lang="en-IN" sz="1600" b="1" dirty="0">
                <a:latin typeface="Yu Gothic Medium" panose="020B0500000000000000" pitchFamily="34" charset="-128"/>
                <a:ea typeface="Yu Gothic Medium" panose="020B0500000000000000" pitchFamily="34" charset="-128"/>
              </a:rPr>
              <a:t>Review &amp; Rating</a:t>
            </a:r>
            <a:r>
              <a:rPr lang="en-IN" sz="1600" dirty="0">
                <a:latin typeface="Yu Gothic Medium" panose="020B0500000000000000" pitchFamily="34" charset="-128"/>
                <a:ea typeface="Yu Gothic Medium" panose="020B0500000000000000" pitchFamily="34" charset="-128"/>
              </a:rPr>
              <a:t> – Maintains feedback and ratings to build reputation and improve trust between users.</a:t>
            </a:r>
          </a:p>
          <a:p>
            <a:pPr>
              <a:lnSpc>
                <a:spcPct val="100000"/>
              </a:lnSpc>
            </a:pPr>
            <a:r>
              <a:rPr lang="en-IN" sz="1600" b="1" dirty="0">
                <a:latin typeface="Yu Gothic Medium" panose="020B0500000000000000" pitchFamily="34" charset="-128"/>
                <a:ea typeface="Yu Gothic Medium" panose="020B0500000000000000" pitchFamily="34" charset="-128"/>
              </a:rPr>
              <a:t>Dispute Management</a:t>
            </a:r>
            <a:r>
              <a:rPr lang="en-IN" sz="1600" dirty="0">
                <a:latin typeface="Yu Gothic Medium" panose="020B0500000000000000" pitchFamily="34" charset="-128"/>
                <a:ea typeface="Yu Gothic Medium" panose="020B0500000000000000" pitchFamily="34" charset="-128"/>
              </a:rPr>
              <a:t> – Records and manages conflicts related to projects, work, or payments.</a:t>
            </a:r>
          </a:p>
          <a:p>
            <a:pPr>
              <a:lnSpc>
                <a:spcPct val="100000"/>
              </a:lnSpc>
            </a:pPr>
            <a:r>
              <a:rPr lang="en-IN" sz="1600" b="1" dirty="0">
                <a:latin typeface="Yu Gothic Medium" panose="020B0500000000000000" pitchFamily="34" charset="-128"/>
                <a:ea typeface="Yu Gothic Medium" panose="020B0500000000000000" pitchFamily="34" charset="-128"/>
              </a:rPr>
              <a:t>Transaction &amp; Database Management</a:t>
            </a:r>
            <a:r>
              <a:rPr lang="en-IN" sz="1600" dirty="0">
                <a:latin typeface="Yu Gothic Medium" panose="020B0500000000000000" pitchFamily="34" charset="-128"/>
                <a:ea typeface="Yu Gothic Medium" panose="020B0500000000000000" pitchFamily="34" charset="-128"/>
              </a:rPr>
              <a:t> – Maintains organized records of users, projects, proposals, contracts, payments, reviews, and transactions.</a:t>
            </a:r>
          </a:p>
          <a:p>
            <a:pPr>
              <a:lnSpc>
                <a:spcPct val="100000"/>
              </a:lnSpc>
            </a:pPr>
            <a:endParaRPr lang="en-US" sz="16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a:xfrm>
            <a:off x="838200" y="1825625"/>
            <a:ext cx="10934700" cy="4351338"/>
          </a:xfrm>
        </p:spPr>
        <p:txBody>
          <a:bodyPr>
            <a:normAutofit/>
          </a:bodyPr>
          <a:lstStyle/>
          <a:p>
            <a:pPr>
              <a:lnSpc>
                <a:spcPct val="100000"/>
              </a:lnSpc>
            </a:pPr>
            <a:r>
              <a:rPr lang="en-IN" sz="2000" b="1" dirty="0">
                <a:latin typeface="Yu Gothic Medium" panose="020B0500000000000000" pitchFamily="34" charset="-128"/>
                <a:ea typeface="Yu Gothic Medium" panose="020B0500000000000000" pitchFamily="34" charset="-128"/>
              </a:rPr>
              <a:t>Operating System</a:t>
            </a:r>
            <a:r>
              <a:rPr lang="en-IN" sz="2000" dirty="0">
                <a:latin typeface="Yu Gothic Medium" panose="020B0500000000000000" pitchFamily="34" charset="-128"/>
                <a:ea typeface="Yu Gothic Medium" panose="020B0500000000000000" pitchFamily="34" charset="-128"/>
              </a:rPr>
              <a:t> – Windows 10/11, Linux, or macOS.</a:t>
            </a:r>
          </a:p>
          <a:p>
            <a:pPr>
              <a:lnSpc>
                <a:spcPct val="100000"/>
              </a:lnSpc>
            </a:pPr>
            <a:r>
              <a:rPr lang="en-IN" sz="2000" b="1" dirty="0">
                <a:latin typeface="Yu Gothic Medium" panose="020B0500000000000000" pitchFamily="34" charset="-128"/>
                <a:ea typeface="Yu Gothic Medium" panose="020B0500000000000000" pitchFamily="34" charset="-128"/>
              </a:rPr>
              <a:t>Frontend</a:t>
            </a:r>
            <a:r>
              <a:rPr lang="en-IN" sz="2000" dirty="0">
                <a:latin typeface="Yu Gothic Medium" panose="020B0500000000000000" pitchFamily="34" charset="-128"/>
                <a:ea typeface="Yu Gothic Medium" panose="020B0500000000000000" pitchFamily="34" charset="-128"/>
              </a:rPr>
              <a:t> – React.js, HTML5, CSS3, and JavaScript.</a:t>
            </a:r>
          </a:p>
          <a:p>
            <a:pPr>
              <a:lnSpc>
                <a:spcPct val="100000"/>
              </a:lnSpc>
            </a:pPr>
            <a:r>
              <a:rPr lang="en-IN" sz="2000" b="1" dirty="0">
                <a:latin typeface="Yu Gothic Medium" panose="020B0500000000000000" pitchFamily="34" charset="-128"/>
                <a:ea typeface="Yu Gothic Medium" panose="020B0500000000000000" pitchFamily="34" charset="-128"/>
              </a:rPr>
              <a:t>Backend</a:t>
            </a:r>
            <a:r>
              <a:rPr lang="en-IN" sz="2000" dirty="0">
                <a:latin typeface="Yu Gothic Medium" panose="020B0500000000000000" pitchFamily="34" charset="-128"/>
                <a:ea typeface="Yu Gothic Medium" panose="020B0500000000000000" pitchFamily="34" charset="-128"/>
              </a:rPr>
              <a:t> – Node.js with Express.js.</a:t>
            </a:r>
          </a:p>
          <a:p>
            <a:pPr>
              <a:lnSpc>
                <a:spcPct val="100000"/>
              </a:lnSpc>
            </a:pPr>
            <a:r>
              <a:rPr lang="en-IN" sz="2000" b="1" dirty="0">
                <a:latin typeface="Yu Gothic Medium" panose="020B0500000000000000" pitchFamily="34" charset="-128"/>
                <a:ea typeface="Yu Gothic Medium" panose="020B0500000000000000" pitchFamily="34" charset="-128"/>
              </a:rPr>
              <a:t>Database</a:t>
            </a:r>
            <a:r>
              <a:rPr lang="en-IN" sz="2000" dirty="0">
                <a:latin typeface="Yu Gothic Medium" panose="020B0500000000000000" pitchFamily="34" charset="-128"/>
                <a:ea typeface="Yu Gothic Medium" panose="020B0500000000000000" pitchFamily="34" charset="-128"/>
              </a:rPr>
              <a:t> – MySQL for storing users, projects, proposals, contracts, milestones, payments, and reviews.</a:t>
            </a:r>
          </a:p>
          <a:p>
            <a:pPr>
              <a:lnSpc>
                <a:spcPct val="100000"/>
              </a:lnSpc>
            </a:pPr>
            <a:r>
              <a:rPr lang="en-IN" sz="2000" b="1" dirty="0">
                <a:latin typeface="Yu Gothic Medium" panose="020B0500000000000000" pitchFamily="34" charset="-128"/>
                <a:ea typeface="Yu Gothic Medium" panose="020B0500000000000000" pitchFamily="34" charset="-128"/>
              </a:rPr>
              <a:t>Database Connectivity</a:t>
            </a:r>
            <a:r>
              <a:rPr lang="en-IN" sz="2000" dirty="0">
                <a:latin typeface="Yu Gothic Medium" panose="020B0500000000000000" pitchFamily="34" charset="-128"/>
                <a:ea typeface="Yu Gothic Medium" panose="020B0500000000000000" pitchFamily="34" charset="-128"/>
              </a:rPr>
              <a:t> – MySQL driver/ORM for communication between Node.js and MySQL.</a:t>
            </a:r>
          </a:p>
          <a:p>
            <a:pPr>
              <a:lnSpc>
                <a:spcPct val="100000"/>
              </a:lnSpc>
            </a:pPr>
            <a:r>
              <a:rPr lang="en-IN" sz="2000" b="1" dirty="0">
                <a:latin typeface="Yu Gothic Medium" panose="020B0500000000000000" pitchFamily="34" charset="-128"/>
                <a:ea typeface="Yu Gothic Medium" panose="020B0500000000000000" pitchFamily="34" charset="-128"/>
              </a:rPr>
              <a:t>Development Tools</a:t>
            </a:r>
            <a:r>
              <a:rPr lang="en-IN" sz="2000" dirty="0">
                <a:latin typeface="Yu Gothic Medium" panose="020B0500000000000000" pitchFamily="34" charset="-128"/>
                <a:ea typeface="Yu Gothic Medium" panose="020B0500000000000000" pitchFamily="34" charset="-128"/>
              </a:rPr>
              <a:t> – Visual Studio Code, MySQL Workbench, and </a:t>
            </a:r>
            <a:r>
              <a:rPr lang="en-IN" sz="2000" dirty="0" err="1">
                <a:latin typeface="Yu Gothic Medium" panose="020B0500000000000000" pitchFamily="34" charset="-128"/>
                <a:ea typeface="Yu Gothic Medium" panose="020B0500000000000000" pitchFamily="34" charset="-128"/>
              </a:rPr>
              <a:t>npm</a:t>
            </a:r>
            <a:r>
              <a:rPr lang="en-IN" sz="2000" dirty="0">
                <a:latin typeface="Yu Gothic Medium" panose="020B0500000000000000" pitchFamily="34" charset="-128"/>
                <a:ea typeface="Yu Gothic Medium" panose="020B0500000000000000" pitchFamily="34" charset="-128"/>
              </a:rPr>
              <a:t>.</a:t>
            </a:r>
          </a:p>
          <a:p>
            <a:pPr>
              <a:lnSpc>
                <a:spcPct val="100000"/>
              </a:lnSpc>
            </a:pPr>
            <a:r>
              <a:rPr lang="en-IN" sz="2000" b="1" dirty="0">
                <a:latin typeface="Yu Gothic Medium" panose="020B0500000000000000" pitchFamily="34" charset="-128"/>
                <a:ea typeface="Yu Gothic Medium" panose="020B0500000000000000" pitchFamily="34" charset="-128"/>
              </a:rPr>
              <a:t>Web Browser</a:t>
            </a:r>
            <a:r>
              <a:rPr lang="en-IN" sz="2000" dirty="0">
                <a:latin typeface="Yu Gothic Medium" panose="020B0500000000000000" pitchFamily="34" charset="-128"/>
                <a:ea typeface="Yu Gothic Medium" panose="020B0500000000000000" pitchFamily="34" charset="-128"/>
              </a:rPr>
              <a:t> – Google Chrome, Microsoft Edge, or Mozilla Firefox.</a:t>
            </a:r>
          </a:p>
          <a:p>
            <a:pPr>
              <a:lnSpc>
                <a:spcPct val="100000"/>
              </a:lnSpc>
            </a:pPr>
            <a:r>
              <a:rPr lang="en-IN" sz="2000" b="1" dirty="0">
                <a:latin typeface="Yu Gothic Medium" panose="020B0500000000000000" pitchFamily="34" charset="-128"/>
                <a:ea typeface="Yu Gothic Medium" panose="020B0500000000000000" pitchFamily="34" charset="-128"/>
              </a:rPr>
              <a:t>Version Control</a:t>
            </a:r>
            <a:r>
              <a:rPr lang="en-IN" sz="2000" dirty="0">
                <a:latin typeface="Yu Gothic Medium" panose="020B0500000000000000" pitchFamily="34" charset="-128"/>
                <a:ea typeface="Yu Gothic Medium" panose="020B0500000000000000" pitchFamily="34" charset="-128"/>
              </a:rPr>
              <a:t> – Git and GitHub for source-code management and collaboration.</a:t>
            </a:r>
          </a:p>
          <a:p>
            <a:pPr marL="0" indent="0">
              <a:lnSpc>
                <a:spcPct val="100000"/>
              </a:lnSpc>
              <a:buNone/>
            </a:pPr>
            <a:endParaRPr lang="en-US" sz="20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763309" y="567746"/>
            <a:ext cx="6564573" cy="805366"/>
          </a:xfrm>
        </p:spPr>
        <p:txBody>
          <a:bodyPr anchor="ctr">
            <a:noAutofit/>
          </a:bodyPr>
          <a:lstStyle/>
          <a:p>
            <a:pPr algn="ctr"/>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4" name="TextBox 3">
            <a:extLst>
              <a:ext uri="{FF2B5EF4-FFF2-40B4-BE49-F238E27FC236}">
                <a16:creationId xmlns:a16="http://schemas.microsoft.com/office/drawing/2014/main" id="{66FD6716-35D5-96CF-8E5F-6C69ACC2F955}"/>
              </a:ext>
            </a:extLst>
          </p:cNvPr>
          <p:cNvSpPr txBox="1"/>
          <p:nvPr/>
        </p:nvSpPr>
        <p:spPr>
          <a:xfrm>
            <a:off x="1078742" y="1717561"/>
            <a:ext cx="9933709" cy="4401205"/>
          </a:xfrm>
          <a:prstGeom prst="rect">
            <a:avLst/>
          </a:prstGeom>
          <a:noFill/>
        </p:spPr>
        <p:txBody>
          <a:bodyPr wrap="square">
            <a:spAutoFit/>
          </a:bodyPr>
          <a:lstStyle/>
          <a:p>
            <a:pPr>
              <a:buNone/>
            </a:pPr>
            <a:r>
              <a:rPr lang="en-IN" sz="2000" b="1" dirty="0">
                <a:latin typeface="Yu Gothic Medium" panose="020B0500000000000000" pitchFamily="34" charset="-128"/>
                <a:ea typeface="Yu Gothic Medium" panose="020B0500000000000000" pitchFamily="34" charset="-128"/>
              </a:rPr>
              <a:t>Conclusion:</a:t>
            </a:r>
            <a:br>
              <a:rPr lang="en-IN" sz="2000" dirty="0">
                <a:latin typeface="Yu Gothic Medium" panose="020B0500000000000000" pitchFamily="34" charset="-128"/>
                <a:ea typeface="Yu Gothic Medium" panose="020B0500000000000000" pitchFamily="34" charset="-128"/>
              </a:rPr>
            </a:br>
            <a:r>
              <a:rPr lang="en-IN" sz="2000" dirty="0">
                <a:latin typeface="Yu Gothic Medium" panose="020B0500000000000000" pitchFamily="34" charset="-128"/>
                <a:ea typeface="Yu Gothic Medium" panose="020B0500000000000000" pitchFamily="34" charset="-128"/>
              </a:rPr>
              <a:t>The </a:t>
            </a:r>
            <a:r>
              <a:rPr lang="en-IN" sz="2000" b="1" dirty="0">
                <a:latin typeface="Yu Gothic Medium" panose="020B0500000000000000" pitchFamily="34" charset="-128"/>
                <a:ea typeface="Yu Gothic Medium" panose="020B0500000000000000" pitchFamily="34" charset="-128"/>
              </a:rPr>
              <a:t>Freelance Marketplace with Escrow Payments</a:t>
            </a:r>
            <a:r>
              <a:rPr lang="en-IN" sz="2000" dirty="0">
                <a:latin typeface="Yu Gothic Medium" panose="020B0500000000000000" pitchFamily="34" charset="-128"/>
                <a:ea typeface="Yu Gothic Medium" panose="020B0500000000000000" pitchFamily="34" charset="-128"/>
              </a:rPr>
              <a:t> provides a structured platform for managing the complete freelance project lifecycle, from job posting and proposal submission to contract management, milestone tracking, work approval, and payment release. By bringing these activities into a single system, the project improves </a:t>
            </a:r>
            <a:r>
              <a:rPr lang="en-IN" sz="2000" b="1" dirty="0">
                <a:latin typeface="Yu Gothic Medium" panose="020B0500000000000000" pitchFamily="34" charset="-128"/>
                <a:ea typeface="Yu Gothic Medium" panose="020B0500000000000000" pitchFamily="34" charset="-128"/>
              </a:rPr>
              <a:t>organization, transparency, security, and trust</a:t>
            </a:r>
            <a:r>
              <a:rPr lang="en-IN" sz="2000" dirty="0">
                <a:latin typeface="Yu Gothic Medium" panose="020B0500000000000000" pitchFamily="34" charset="-128"/>
                <a:ea typeface="Yu Gothic Medium" panose="020B0500000000000000" pitchFamily="34" charset="-128"/>
              </a:rPr>
              <a:t> between clients and freelancers.</a:t>
            </a:r>
          </a:p>
          <a:p>
            <a:pPr>
              <a:buNone/>
            </a:pPr>
            <a:endParaRPr lang="en-IN" sz="2000" dirty="0">
              <a:latin typeface="Yu Gothic Medium" panose="020B0500000000000000" pitchFamily="34" charset="-128"/>
              <a:ea typeface="Yu Gothic Medium" panose="020B0500000000000000" pitchFamily="34" charset="-128"/>
            </a:endParaRPr>
          </a:p>
          <a:p>
            <a:pPr>
              <a:buNone/>
            </a:pPr>
            <a:r>
              <a:rPr lang="en-IN" sz="2000" b="1" dirty="0">
                <a:latin typeface="Yu Gothic Medium" panose="020B0500000000000000" pitchFamily="34" charset="-128"/>
                <a:ea typeface="Yu Gothic Medium" panose="020B0500000000000000" pitchFamily="34" charset="-128"/>
              </a:rPr>
              <a:t>Future Scope:</a:t>
            </a:r>
            <a:br>
              <a:rPr lang="en-IN" sz="2000" dirty="0">
                <a:latin typeface="Yu Gothic Medium" panose="020B0500000000000000" pitchFamily="34" charset="-128"/>
                <a:ea typeface="Yu Gothic Medium" panose="020B0500000000000000" pitchFamily="34" charset="-128"/>
              </a:rPr>
            </a:br>
            <a:r>
              <a:rPr lang="en-IN" sz="2000" dirty="0">
                <a:latin typeface="Yu Gothic Medium" panose="020B0500000000000000" pitchFamily="34" charset="-128"/>
                <a:ea typeface="Yu Gothic Medium" panose="020B0500000000000000" pitchFamily="34" charset="-128"/>
              </a:rPr>
              <a:t>The system can be further enhanced by adding </a:t>
            </a:r>
            <a:r>
              <a:rPr lang="en-IN" sz="2000" b="1" dirty="0">
                <a:latin typeface="Yu Gothic Medium" panose="020B0500000000000000" pitchFamily="34" charset="-128"/>
                <a:ea typeface="Yu Gothic Medium" panose="020B0500000000000000" pitchFamily="34" charset="-128"/>
              </a:rPr>
              <a:t>AI-based freelancer and project recommendations, automated proposal matching, real-time chat and notifications, advanced analytics, multiple payment gateways, mobile application support, automated dispute resolution, and stronger identity verification</a:t>
            </a:r>
            <a:r>
              <a:rPr lang="en-IN" sz="2000" dirty="0">
                <a:latin typeface="Yu Gothic Medium" panose="020B0500000000000000" pitchFamily="34" charset="-128"/>
                <a:ea typeface="Yu Gothic Medium" panose="020B0500000000000000" pitchFamily="34" charset="-128"/>
              </a:rPr>
              <a:t>. These features can make the platform more intelligent, scalable, and user-friendly.</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9187</TotalTime>
  <Words>1204</Words>
  <Application>Microsoft Office PowerPoint</Application>
  <PresentationFormat>Widescreen</PresentationFormat>
  <Paragraphs>127</Paragraphs>
  <Slides>12</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Yu Gothic Medium</vt:lpstr>
      <vt:lpstr>Arial</vt:lpstr>
      <vt:lpstr>Calibri</vt:lpstr>
      <vt:lpstr>Calibri Light</vt:lpstr>
      <vt:lpstr>Office Theme</vt:lpstr>
      <vt:lpstr>Custom Design</vt:lpstr>
      <vt:lpstr> 1st  REVIEW  Distributed Video Anomaly Detection in Large-Scale Surveillance Systems Using HDFS and Cluster-Visualized Federated CNN–LSTM Models </vt:lpstr>
      <vt:lpstr>GROUP NUMBER: </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Yasam Bhaarathi</cp:lastModifiedBy>
  <cp:revision>96</cp:revision>
  <dcterms:created xsi:type="dcterms:W3CDTF">2022-05-20T10:20:31Z</dcterms:created>
  <dcterms:modified xsi:type="dcterms:W3CDTF">2026-08-16T08:08:42Z</dcterms:modified>
</cp:coreProperties>
</file>